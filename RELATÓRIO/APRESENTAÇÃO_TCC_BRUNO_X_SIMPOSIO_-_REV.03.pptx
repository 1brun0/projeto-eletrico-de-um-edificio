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54" r:id="rId2"/>
  </p:sldMasterIdLst>
  <p:notesMasterIdLst>
    <p:notesMasterId r:id="rId38"/>
  </p:notesMasterIdLst>
  <p:handoutMasterIdLst>
    <p:handoutMasterId r:id="rId39"/>
  </p:handoutMasterIdLst>
  <p:sldIdLst>
    <p:sldId id="256" r:id="rId3"/>
    <p:sldId id="607" r:id="rId4"/>
    <p:sldId id="612" r:id="rId5"/>
    <p:sldId id="618" r:id="rId6"/>
    <p:sldId id="619" r:id="rId7"/>
    <p:sldId id="613" r:id="rId8"/>
    <p:sldId id="620" r:id="rId9"/>
    <p:sldId id="623" r:id="rId10"/>
    <p:sldId id="622" r:id="rId11"/>
    <p:sldId id="621" r:id="rId12"/>
    <p:sldId id="624" r:id="rId13"/>
    <p:sldId id="614" r:id="rId14"/>
    <p:sldId id="625" r:id="rId15"/>
    <p:sldId id="645" r:id="rId16"/>
    <p:sldId id="627" r:id="rId17"/>
    <p:sldId id="628" r:id="rId18"/>
    <p:sldId id="629" r:id="rId19"/>
    <p:sldId id="630" r:id="rId20"/>
    <p:sldId id="631" r:id="rId21"/>
    <p:sldId id="632" r:id="rId22"/>
    <p:sldId id="633" r:id="rId23"/>
    <p:sldId id="634" r:id="rId24"/>
    <p:sldId id="635" r:id="rId25"/>
    <p:sldId id="636" r:id="rId26"/>
    <p:sldId id="637" r:id="rId27"/>
    <p:sldId id="638" r:id="rId28"/>
    <p:sldId id="639" r:id="rId29"/>
    <p:sldId id="640" r:id="rId30"/>
    <p:sldId id="641" r:id="rId31"/>
    <p:sldId id="642" r:id="rId32"/>
    <p:sldId id="643" r:id="rId33"/>
    <p:sldId id="615" r:id="rId34"/>
    <p:sldId id="616" r:id="rId35"/>
    <p:sldId id="644" r:id="rId36"/>
    <p:sldId id="606" r:id="rId37"/>
  </p:sldIdLst>
  <p:sldSz cx="9144000" cy="6858000" type="screen4x3"/>
  <p:notesSz cx="7023100" cy="93091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9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4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4AC39-44E6-425E-AF49-CF7D189F346F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0F472-929B-459B-8D82-2FABCC5B32A0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DF2775BC-6312-42C7-B7C5-EA6783C2D9CA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F715A1-4ADC-44E0-9587-804FF39D6B2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F715A1-4ADC-44E0-9587-804FF39D6B22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181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74938-2BA9-4E95-A6A1-FB7DD491B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9D0D-86CF-4788-A8F6-E458D6C99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E63776-7A9C-4246-A6BA-CF4BD0C7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BB5893-2642-4772-A224-B71A3541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F7E14-3FB8-4308-8FFD-4AE7881A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2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CAF8B-CC15-4F84-B1F4-3AF344B0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4A980-6149-402F-A846-20F268265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B61F42-DDF3-49CB-B442-60724FC8D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2BA6A2-8C6C-48A5-B2DC-03ED781D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D4B149-F219-4E7F-9E0A-2B59D592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11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A2A8B-CDD8-41E0-A7BB-ABA3F9E5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E24E8C-4DC6-4876-AAB2-90BD222D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21D3EE-6B9A-49BD-8CFE-88CCE7B4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4C672B-869E-4613-93BF-E0D2B0D6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2A44DF-B6A7-4E9C-B953-88EFBB49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15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E72FD-37D2-4454-8FBA-8FE29682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8D86-B0F8-4625-B576-666DF59CD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7752D4-5D6F-4C2F-B414-A66FF5943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482335-A109-4B1E-A1EB-98F1ED66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10EA06-9BA2-4C0F-9777-C9B10BBB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DDC7F0-0FE9-4183-B43D-BE47CC17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7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42FB7-6779-4011-97E7-9DD3BC0C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2C1E7-016D-45DD-B01A-A0863C925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C9B473-C036-4E10-9F3D-2017FC9F1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654A70-7D74-4857-8467-4709AAD83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460C4A-964D-46DD-9EBA-67272858D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984A4B-ECC1-4A35-816F-3BC60A29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A81C837-305D-451F-86CE-82A6A357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2399F3-BCEE-463D-8E60-0E029B5B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756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ABF98-23B1-43A1-859A-E4D20223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5791CA-2FAC-4A83-9ECB-880517BC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E1BA64-D4EC-4856-8AA1-EE8823F5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EA91C2-108E-490E-A506-B368AAB4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203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A494C0-7E99-4BFB-9CFF-B2C26925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C9D7DC-B89E-4348-ABFA-419FC6EF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FFB218-0894-4B2E-A3B4-27C33C2B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550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7C08E-7546-46E0-B46B-42AAC63B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A65670-40A2-40DA-8906-98FC841D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58F7D5-32E2-4CE7-8C15-BDCE97CE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230E42-537F-4402-A937-E54ECD78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A6DC1F-A4C3-4E00-AFE9-CDEB0D80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631DCB-AED5-4E4A-9030-0AB821BF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2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2DA89-3229-4F06-AAD4-EDA5471C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12C293-1E65-499B-8983-7BCD918F6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93E124-6E5A-4105-B2F2-13DB53473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9CA4D9-624F-4CA2-BC2B-E3E1B3B5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5B5FF6-74B4-49A8-B5A4-0B894E28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585834-6BAA-4FD1-9928-43E7BA13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329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254BD-6A53-492D-A714-222DD254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F6A5ED-4F8B-43AC-BF4F-72ACB9AA5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BFD434-11B1-48D1-BE7E-E2C3F131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D3F1AD-5F16-4130-95A6-DB0F5A0C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D0FB4-B7EA-4300-9F1E-9A296DB40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277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206E7-534D-40E8-8BAF-3B748B2B7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C4F97E-955C-49F2-BAED-7E3B82C4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368FE7-36D3-4408-AA80-5F2141FC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2E139-42E1-4EC2-AD67-D84F13EAF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90B7CC-0E90-4BF8-AEEB-4BFAC9F4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466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ED57C67-246A-4076-95C9-3422AD47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B3E61-F1B1-477C-A674-93F3BA10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C57C4C-B1ED-487A-B67A-49E59A777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F0622-75E4-48B8-A617-5428CA5926CE}" type="datetimeFigureOut">
              <a:rPr lang="pt-BR" smtClean="0"/>
              <a:pPr/>
              <a:t>06/12/2025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FB88C3-9279-4A6B-ABC0-00DBDA0B1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F4B7C9-CC7D-409D-A275-AD7CE3305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75541-8164-4CC7-9F2F-6F0C49BB858D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19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slide" Target="slide28.xml"/><Relationship Id="rId3" Type="http://schemas.openxmlformats.org/officeDocument/2006/relationships/image" Target="../media/image4.png"/><Relationship Id="rId7" Type="http://schemas.openxmlformats.org/officeDocument/2006/relationships/slide" Target="slide7.xml"/><Relationship Id="rId12" Type="http://schemas.openxmlformats.org/officeDocument/2006/relationships/slide" Target="slide26.xml"/><Relationship Id="rId2" Type="http://schemas.openxmlformats.org/officeDocument/2006/relationships/image" Target="../media/image1.png"/><Relationship Id="rId16" Type="http://schemas.openxmlformats.org/officeDocument/2006/relationships/slide" Target="slide3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6.xml"/><Relationship Id="rId11" Type="http://schemas.openxmlformats.org/officeDocument/2006/relationships/slide" Target="slide23.xml"/><Relationship Id="rId5" Type="http://schemas.openxmlformats.org/officeDocument/2006/relationships/slide" Target="slide4.xml"/><Relationship Id="rId15" Type="http://schemas.openxmlformats.org/officeDocument/2006/relationships/slide" Target="slide32.xml"/><Relationship Id="rId10" Type="http://schemas.openxmlformats.org/officeDocument/2006/relationships/slide" Target="slide21.xml"/><Relationship Id="rId4" Type="http://schemas.openxmlformats.org/officeDocument/2006/relationships/slide" Target="slide3.xml"/><Relationship Id="rId9" Type="http://schemas.openxmlformats.org/officeDocument/2006/relationships/slide" Target="slide17.xml"/><Relationship Id="rId1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lektro.com.br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41DE4512-B35B-46AD-BAA2-19F609104241}"/>
              </a:ext>
            </a:extLst>
          </p:cNvPr>
          <p:cNvSpPr txBox="1">
            <a:spLocks/>
          </p:cNvSpPr>
          <p:nvPr/>
        </p:nvSpPr>
        <p:spPr>
          <a:xfrm>
            <a:off x="324554" y="5933832"/>
            <a:ext cx="3913814" cy="3713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Bruno Henrique de Oliveira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80F6783-FC5F-44F0-9B64-8E5B4BF9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235" y="526570"/>
            <a:ext cx="3286940" cy="701706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4C5987F7-4A56-4466-873A-2A4B3C22A96E}"/>
              </a:ext>
            </a:extLst>
          </p:cNvPr>
          <p:cNvSpPr txBox="1">
            <a:spLocks/>
          </p:cNvSpPr>
          <p:nvPr/>
        </p:nvSpPr>
        <p:spPr>
          <a:xfrm>
            <a:off x="324554" y="6305150"/>
            <a:ext cx="7287209" cy="6148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Orientador: Prof. Dr. Daniel Augusto Pagi Ferreira</a:t>
            </a:r>
          </a:p>
          <a:p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6E79737-F44F-45A7-83B2-14C3978EB24C}"/>
              </a:ext>
            </a:extLst>
          </p:cNvPr>
          <p:cNvSpPr/>
          <p:nvPr/>
        </p:nvSpPr>
        <p:spPr>
          <a:xfrm>
            <a:off x="1259632" y="2326114"/>
            <a:ext cx="6624736" cy="2088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Instalação Elétrica Predial: Projeto Elétrico de um</a:t>
            </a:r>
          </a:p>
          <a:p>
            <a:pPr algn="ctr"/>
            <a:r>
              <a:rPr lang="pt-BR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Edifício Residencial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78A73E2-4AD1-494F-B74E-EEFB94F2F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607" y="111533"/>
            <a:ext cx="1990763" cy="1900646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7581A12F-E7F1-47F4-8350-87A8F9695497}"/>
              </a:ext>
            </a:extLst>
          </p:cNvPr>
          <p:cNvSpPr/>
          <p:nvPr/>
        </p:nvSpPr>
        <p:spPr>
          <a:xfrm>
            <a:off x="365778" y="5743391"/>
            <a:ext cx="7559814" cy="527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82340687-B840-4126-A1D4-EE3258205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44" y="220144"/>
            <a:ext cx="1450375" cy="144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2351585" y="269227"/>
            <a:ext cx="489736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Sum</a:t>
            </a:r>
            <a:r>
              <a:rPr lang="en-US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ário</a:t>
            </a: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da Apresentação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20D78E5-DA0C-1A45-6A48-38B61417F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5E1EEAF-EF0F-17C7-7BAA-41440DB13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87B79C-B2D6-E2E1-853A-C90FFCF680FA}"/>
              </a:ext>
            </a:extLst>
          </p:cNvPr>
          <p:cNvSpPr txBox="1"/>
          <p:nvPr/>
        </p:nvSpPr>
        <p:spPr>
          <a:xfrm>
            <a:off x="1034473" y="1422399"/>
            <a:ext cx="73521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Índice: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Introdução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Descrição da Edificação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Metodologia Geral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Cálculo de Iluminação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Tomadas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Demanda do Apartamento Modelo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Eletrodutos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Proteções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Demanda da Edificação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Ramal de Entrada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Diagrama Unifilar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5" action="ppaction://hlinksldjump"/>
              </a:rPr>
              <a:t>Conclusão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  <a:hlinkClick r:id="rId16" action="ppaction://hlinksldjump"/>
              </a:rPr>
              <a:t>Referências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889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395235" y="392351"/>
            <a:ext cx="23535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F7FDB54-4AEE-5699-0B5D-93CCBE427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0492A98-7B9B-5FAE-0DE2-549C4728E5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367701C-E6CA-C2EF-C163-9B9FBDE1BDE3}"/>
              </a:ext>
            </a:extLst>
          </p:cNvPr>
          <p:cNvSpPr txBox="1"/>
          <p:nvPr/>
        </p:nvSpPr>
        <p:spPr>
          <a:xfrm>
            <a:off x="1034473" y="1422399"/>
            <a:ext cx="735214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 deste trabalho: 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o projeto elétrico completo de um edifício residencial na cidade de Araras – SP;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Atender às normas técnicas vigentes e o padrão da concessionária Elektro;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Dimensionar condutores, proteções, circuitos de tomadas e iluminação;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segurança e conformidade técnica.</a:t>
            </a:r>
          </a:p>
        </p:txBody>
      </p:sp>
    </p:spTree>
    <p:extLst>
      <p:ext uri="{BB962C8B-B14F-4D97-AF65-F5344CB8AC3E}">
        <p14:creationId xmlns:p14="http://schemas.microsoft.com/office/powerpoint/2010/main" val="4105198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00F7-28E5-5968-3817-5362098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ADE98CB-10AA-47DF-14E1-C3456EC6EABB}"/>
              </a:ext>
            </a:extLst>
          </p:cNvPr>
          <p:cNvSpPr/>
          <p:nvPr/>
        </p:nvSpPr>
        <p:spPr>
          <a:xfrm>
            <a:off x="3395235" y="392351"/>
            <a:ext cx="23535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80078E-6509-7BB4-4A9C-1788904BEB1E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A26CF7A-EA8D-BE78-2FCD-5CB7BDBC4024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51159A7-F797-A55A-A91C-96106D400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C5718C33-B1FA-27F1-B58C-C23335BA1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B076D29-9E9B-3F1B-F131-B7D2F14972EA}"/>
              </a:ext>
            </a:extLst>
          </p:cNvPr>
          <p:cNvSpPr txBox="1"/>
          <p:nvPr/>
        </p:nvSpPr>
        <p:spPr>
          <a:xfrm>
            <a:off x="1034473" y="1422399"/>
            <a:ext cx="73521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Descrição da Edificação: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andares;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apartamentos iguais;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Instalação de baixa tensão (127/220 V);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Demanda total diversificada ~ 88,4kW.</a:t>
            </a:r>
          </a:p>
        </p:txBody>
      </p:sp>
    </p:spTree>
    <p:extLst>
      <p:ext uri="{BB962C8B-B14F-4D97-AF65-F5344CB8AC3E}">
        <p14:creationId xmlns:p14="http://schemas.microsoft.com/office/powerpoint/2010/main" val="317565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79EBE-9263-E36B-3362-A8DDE67B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BF87B4A-F2ED-2E5C-E6A2-EE6BA0C30F0D}"/>
              </a:ext>
            </a:extLst>
          </p:cNvPr>
          <p:cNvSpPr/>
          <p:nvPr/>
        </p:nvSpPr>
        <p:spPr>
          <a:xfrm>
            <a:off x="3395235" y="392351"/>
            <a:ext cx="235352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Introdução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D139DF-64F2-58A2-51BC-88D7966C9A19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391A8AA-EC36-5BE7-A0A8-196C682DDBC5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9B76183-3864-31DD-3827-A5E055D1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528600CC-4722-EECC-2012-95F2FD1160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F8904C6-157F-50D3-C19F-F691FAAA3635}"/>
              </a:ext>
            </a:extLst>
          </p:cNvPr>
          <p:cNvSpPr txBox="1"/>
          <p:nvPr/>
        </p:nvSpPr>
        <p:spPr>
          <a:xfrm>
            <a:off x="1034472" y="1210188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Planta Baixa do Apartamento Modelo: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54F61DF-7EEB-058E-5E30-4DD5252AA4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89" t="2110" r="5642" b="3707"/>
          <a:stretch>
            <a:fillRect/>
          </a:stretch>
        </p:blipFill>
        <p:spPr bwMode="auto">
          <a:xfrm>
            <a:off x="2533359" y="1800457"/>
            <a:ext cx="4354370" cy="43409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D1B3FEC-96D0-25A0-9159-43A8DA12B53F}"/>
              </a:ext>
            </a:extLst>
          </p:cNvPr>
          <p:cNvSpPr txBox="1"/>
          <p:nvPr/>
        </p:nvSpPr>
        <p:spPr>
          <a:xfrm>
            <a:off x="1089889" y="6128322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</p:spTree>
    <p:extLst>
      <p:ext uri="{BB962C8B-B14F-4D97-AF65-F5344CB8AC3E}">
        <p14:creationId xmlns:p14="http://schemas.microsoft.com/office/powerpoint/2010/main" val="208855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BCF67AD-AD6F-05E8-464A-199F337C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531B7AE9-C275-4350-D13F-3D44AE78D4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F2D4481-4EF5-0E81-189B-D540AC7AEA0C}"/>
              </a:ext>
            </a:extLst>
          </p:cNvPr>
          <p:cNvSpPr txBox="1"/>
          <p:nvPr/>
        </p:nvSpPr>
        <p:spPr>
          <a:xfrm>
            <a:off x="1034473" y="1422399"/>
            <a:ext cx="73521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Metodologia Geral: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do apartamento modelo;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das cargas (TUG’s, TUE’s , Iluminação);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dos condutores, eletrodutos e disjuntores;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Ramal de entrada e diagrama unifilar.</a:t>
            </a:r>
          </a:p>
        </p:txBody>
      </p:sp>
    </p:spTree>
    <p:extLst>
      <p:ext uri="{BB962C8B-B14F-4D97-AF65-F5344CB8AC3E}">
        <p14:creationId xmlns:p14="http://schemas.microsoft.com/office/powerpoint/2010/main" val="237003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0444-61BA-AC84-6AB6-63D86D15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6CD5C2E-B744-D36E-B52A-BC964E82622F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31071B1-5DDB-7B13-E08E-27AF3AE65309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75B4BE-6697-0808-C079-AE291F792CD9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1B6588D-BE91-4BDE-A7F2-99F27CA88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B46DB22D-A2F4-6198-2A7D-41AF0E726D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FE59648-FB89-79F4-8382-20977F995489}"/>
              </a:ext>
            </a:extLst>
          </p:cNvPr>
          <p:cNvSpPr txBox="1"/>
          <p:nvPr/>
        </p:nvSpPr>
        <p:spPr>
          <a:xfrm>
            <a:off x="1034473" y="1422399"/>
            <a:ext cx="7352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Cálculo de Iluminação: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Normas utilizadas: NBR 5410 e NBR ISO/CIE 8995-1;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Cálculo pela área útil + simulação DIALux;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Lâmpadas LED 14 W – maior eficiência.</a:t>
            </a:r>
          </a:p>
        </p:txBody>
      </p:sp>
    </p:spTree>
    <p:extLst>
      <p:ext uri="{BB962C8B-B14F-4D97-AF65-F5344CB8AC3E}">
        <p14:creationId xmlns:p14="http://schemas.microsoft.com/office/powerpoint/2010/main" val="64549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FCAF-9649-D2C9-7B55-8576A701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0844B1C-2509-0130-C7D9-DD5B9D0B6E89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18B1BCD-8893-1B5C-6BE7-419C01DE4C53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AE68408-3868-7ED5-8832-B2525B8DF843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31F4FD2-6250-F88C-19F1-795E52FD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26CD41EC-C70C-5E93-1000-C5692C165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DA7406A-CC28-6CDB-7444-505E488F4235}"/>
              </a:ext>
            </a:extLst>
          </p:cNvPr>
          <p:cNvSpPr txBox="1"/>
          <p:nvPr/>
        </p:nvSpPr>
        <p:spPr>
          <a:xfrm>
            <a:off x="895926" y="1422399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Potência de Iluminação por Ambiente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1FC5A1-12F9-E140-3DEF-C96F40B2081B}"/>
              </a:ext>
            </a:extLst>
          </p:cNvPr>
          <p:cNvSpPr txBox="1"/>
          <p:nvPr/>
        </p:nvSpPr>
        <p:spPr>
          <a:xfrm>
            <a:off x="951343" y="5816898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51E1331A-0B44-FE1A-9F72-2945125C0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448581"/>
              </p:ext>
            </p:extLst>
          </p:nvPr>
        </p:nvGraphicFramePr>
        <p:xfrm>
          <a:off x="2030381" y="2115821"/>
          <a:ext cx="5083233" cy="3629025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460964">
                  <a:extLst>
                    <a:ext uri="{9D8B030D-6E8A-4147-A177-3AD203B41FA5}">
                      <a16:colId xmlns:a16="http://schemas.microsoft.com/office/drawing/2014/main" val="1342483998"/>
                    </a:ext>
                  </a:extLst>
                </a:gridCol>
                <a:gridCol w="837832">
                  <a:extLst>
                    <a:ext uri="{9D8B030D-6E8A-4147-A177-3AD203B41FA5}">
                      <a16:colId xmlns:a16="http://schemas.microsoft.com/office/drawing/2014/main" val="206997736"/>
                    </a:ext>
                  </a:extLst>
                </a:gridCol>
                <a:gridCol w="1377678">
                  <a:extLst>
                    <a:ext uri="{9D8B030D-6E8A-4147-A177-3AD203B41FA5}">
                      <a16:colId xmlns:a16="http://schemas.microsoft.com/office/drawing/2014/main" val="3528385274"/>
                    </a:ext>
                  </a:extLst>
                </a:gridCol>
                <a:gridCol w="1406759">
                  <a:extLst>
                    <a:ext uri="{9D8B030D-6E8A-4147-A177-3AD203B41FA5}">
                      <a16:colId xmlns:a16="http://schemas.microsoft.com/office/drawing/2014/main" val="2547880039"/>
                    </a:ext>
                  </a:extLst>
                </a:gridCol>
              </a:tblGrid>
              <a:tr h="617081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Dependência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Área (m²)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Perímetro (m)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(VA)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11795672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Quarto 1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22176620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Quarto 2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10,7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74071079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Banheiro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280616259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83358931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4,24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8,25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72692244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Cozinha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4,24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8,25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471827804"/>
                  </a:ext>
                </a:extLst>
              </a:tr>
              <a:tr h="291747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 de Jantar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10,6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17268540"/>
                  </a:ext>
                </a:extLst>
              </a:tr>
              <a:tr h="617081"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Varanda / A. Serviço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marL="179070"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748189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40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C8EF-CB1F-2D08-8921-E24729AE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0A88494-2EAD-21D4-088C-9A1BCC7BED86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D1C484-B9BA-A1DF-E42A-E5A4018FE0E9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B9777C9-E956-8BD3-17EC-BE788DB53878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49E2D47-931E-701B-9CB7-9C1916F70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CABD025-524C-92D4-21BA-86CD4F5ADC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EF6E348-E20A-BF44-3769-DF804CDCD11A}"/>
              </a:ext>
            </a:extLst>
          </p:cNvPr>
          <p:cNvSpPr txBox="1"/>
          <p:nvPr/>
        </p:nvSpPr>
        <p:spPr>
          <a:xfrm>
            <a:off x="895926" y="1422399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Critérios Para Simulação DIALux Evo: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4104841-64B5-A86C-53EB-51AB33FD4CEC}"/>
              </a:ext>
            </a:extLst>
          </p:cNvPr>
          <p:cNvSpPr txBox="1"/>
          <p:nvPr/>
        </p:nvSpPr>
        <p:spPr>
          <a:xfrm>
            <a:off x="951343" y="5547031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F99E91B-6CF4-97BA-FE6B-77231750D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544203"/>
              </p:ext>
            </p:extLst>
          </p:nvPr>
        </p:nvGraphicFramePr>
        <p:xfrm>
          <a:off x="2163296" y="2541659"/>
          <a:ext cx="4817401" cy="2893942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3028108">
                  <a:extLst>
                    <a:ext uri="{9D8B030D-6E8A-4147-A177-3AD203B41FA5}">
                      <a16:colId xmlns:a16="http://schemas.microsoft.com/office/drawing/2014/main" val="1045990826"/>
                    </a:ext>
                  </a:extLst>
                </a:gridCol>
                <a:gridCol w="1789293">
                  <a:extLst>
                    <a:ext uri="{9D8B030D-6E8A-4147-A177-3AD203B41FA5}">
                      <a16:colId xmlns:a16="http://schemas.microsoft.com/office/drawing/2014/main" val="2979210025"/>
                    </a:ext>
                  </a:extLst>
                </a:gridCol>
              </a:tblGrid>
              <a:tr h="455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Parâmetro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Descrição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5095753"/>
                  </a:ext>
                </a:extLst>
              </a:tr>
              <a:tr h="5272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Luminária </a:t>
                      </a:r>
                      <a:endParaRPr lang="pt-BR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SIMON, 14W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963756"/>
                  </a:ext>
                </a:extLst>
              </a:tr>
              <a:tr h="5449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Altura do plano de trabalho</a:t>
                      </a:r>
                      <a:endParaRPr lang="pt-BR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0,8m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2617530"/>
                  </a:ext>
                </a:extLst>
              </a:tr>
              <a:tr h="455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 da parede</a:t>
                      </a:r>
                      <a:endParaRPr lang="pt-BR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Branco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6118535"/>
                  </a:ext>
                </a:extLst>
              </a:tr>
              <a:tr h="455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 do chão</a:t>
                      </a:r>
                      <a:endParaRPr lang="pt-BR" sz="18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Branco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2667077"/>
                  </a:ext>
                </a:extLst>
              </a:tr>
              <a:tr h="45543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Pé direito</a:t>
                      </a:r>
                      <a:endParaRPr lang="pt-BR" sz="18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2,8m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02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5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AC4E-18B1-59F2-26D8-B96C4744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6C3F897-D470-63F8-CECC-DFF50BE026E4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D40FF2E-6F2B-17EE-CCC8-3A12896E8DFC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078E27-36BB-BFBC-3633-A9607191FB60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E32FF53-A316-618F-D075-8785E774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B03BCD3-BFFA-9500-F447-ACB63F3E2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7E13A9C-C27E-3DD1-2959-99BD9BC0962B}"/>
              </a:ext>
            </a:extLst>
          </p:cNvPr>
          <p:cNvSpPr txBox="1"/>
          <p:nvPr/>
        </p:nvSpPr>
        <p:spPr>
          <a:xfrm>
            <a:off x="895926" y="1422399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de Iluminância Recomendada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2E3D0E4-FC4E-FDBB-BA9E-79EB234FE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328" y="1965223"/>
            <a:ext cx="4893339" cy="430752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2709798-D8A8-1D05-A9FD-2E9FB63B63A4}"/>
              </a:ext>
            </a:extLst>
          </p:cNvPr>
          <p:cNvSpPr txBox="1"/>
          <p:nvPr/>
        </p:nvSpPr>
        <p:spPr>
          <a:xfrm>
            <a:off x="923634" y="6272747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NBR-ISO/CIE-8995-1</a:t>
            </a:r>
          </a:p>
        </p:txBody>
      </p:sp>
    </p:spTree>
    <p:extLst>
      <p:ext uri="{BB962C8B-B14F-4D97-AF65-F5344CB8AC3E}">
        <p14:creationId xmlns:p14="http://schemas.microsoft.com/office/powerpoint/2010/main" val="206599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6843-7536-88FE-5679-5C4235CC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4A3C51F-5DA2-1607-E2C4-9B21B0AF6C6F}"/>
              </a:ext>
            </a:extLst>
          </p:cNvPr>
          <p:cNvSpPr/>
          <p:nvPr/>
        </p:nvSpPr>
        <p:spPr>
          <a:xfrm>
            <a:off x="3433618" y="392351"/>
            <a:ext cx="227677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93E060A-57E5-B2DA-75EB-979780E507FD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6A4243-0BE6-3C87-4599-5A3D08AEF2DA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9067120-490E-5CD3-DAE7-7DA80E1F6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AEC07E16-66AC-0899-3AA0-603A51F2D0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2AE5F0C-D652-F528-ED52-B1C6EAE550F8}"/>
              </a:ext>
            </a:extLst>
          </p:cNvPr>
          <p:cNvSpPr txBox="1"/>
          <p:nvPr/>
        </p:nvSpPr>
        <p:spPr>
          <a:xfrm>
            <a:off x="868217" y="1332305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3D da Simulação: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BB09AB9-9A70-C9DA-0E2F-5627603F20E3}"/>
              </a:ext>
            </a:extLst>
          </p:cNvPr>
          <p:cNvSpPr txBox="1"/>
          <p:nvPr/>
        </p:nvSpPr>
        <p:spPr>
          <a:xfrm>
            <a:off x="923634" y="6227253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AC54AF8-C08B-1303-B313-41386AB9B7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27" t="6349" r="6114" b="4753"/>
          <a:stretch>
            <a:fillRect/>
          </a:stretch>
        </p:blipFill>
        <p:spPr bwMode="auto">
          <a:xfrm>
            <a:off x="2570030" y="1861130"/>
            <a:ext cx="4360630" cy="43691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10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433618" y="392351"/>
            <a:ext cx="227677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DFD3CF2-B45E-0502-5B13-BFD625F2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223192D-D5D4-2F48-3844-9DAA10D8C4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E0C2E2D-5E6D-0BCC-8B9F-C32F973D49AD}"/>
              </a:ext>
            </a:extLst>
          </p:cNvPr>
          <p:cNvSpPr txBox="1"/>
          <p:nvPr/>
        </p:nvSpPr>
        <p:spPr>
          <a:xfrm>
            <a:off x="895926" y="1422399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da Simulação: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1BAD7B2-FD88-8A50-3E66-F85E81FEC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420" y="1993694"/>
            <a:ext cx="3465501" cy="434590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1786159-84C9-9327-EB90-664A79CF34D2}"/>
              </a:ext>
            </a:extLst>
          </p:cNvPr>
          <p:cNvSpPr txBox="1"/>
          <p:nvPr/>
        </p:nvSpPr>
        <p:spPr>
          <a:xfrm>
            <a:off x="895926" y="6339596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</p:spTree>
    <p:extLst>
      <p:ext uri="{BB962C8B-B14F-4D97-AF65-F5344CB8AC3E}">
        <p14:creationId xmlns:p14="http://schemas.microsoft.com/office/powerpoint/2010/main" val="210534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11EF-748C-967A-FD2B-4EA4BA9B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FD67644-A861-6C2C-A85D-19E40197E0E2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D355C7A-5A67-8CFA-C807-E46D4BA6428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37D644-5FEA-0B73-AA84-F155374C65FE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41276E1-4538-5258-D953-2C2AB87EE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E8C2A2BB-A2E6-E68E-A960-4ED4E7C9C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B7A5CBC-8B2A-70E2-C56B-C2D643DCE868}"/>
              </a:ext>
            </a:extLst>
          </p:cNvPr>
          <p:cNvSpPr txBox="1"/>
          <p:nvPr/>
        </p:nvSpPr>
        <p:spPr>
          <a:xfrm>
            <a:off x="1034473" y="1422399"/>
            <a:ext cx="73521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Tomadas – Critérios NBR 5410: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Tomadas de Uso Geral (TUG’S): por perímetro / ambiente;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Cozinhas, copas e locais análogos: 1 ponto a cada 3,5m de perímetro;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Salas e dormitórios: 1 ponto a cada 5m de perímetro;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Varandas ao menos um ponto;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 VA para os três primeiros pontos de tomadas e 100VA para os excedentes em banheiros, copas, cozinhas, lavanderias e locais análogos;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Demais cômodos no mínimo 100VA por ponto de tomada;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Tomadas de Uso Específico (TUE’S): cargas específicas;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000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F11EA-C31C-3C64-3151-C8DBCBB6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1E6B6EC-5632-AE1F-B07E-4229325DC7D7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FB2A923-98AA-4AF2-8479-5444BA7598D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C3B98F8-C48F-1DD3-8400-F6D5B3E88B94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FF198E7-9D00-81E5-3F5F-398B5912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5CB0D36B-3ED2-DA33-CCB4-1CA7BFA01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859BEA-E6A2-3D12-9020-C6B96B79AA69}"/>
              </a:ext>
            </a:extLst>
          </p:cNvPr>
          <p:cNvSpPr txBox="1"/>
          <p:nvPr/>
        </p:nvSpPr>
        <p:spPr>
          <a:xfrm>
            <a:off x="895925" y="1227056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TUG’s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ACBA670-2F50-5CE1-C779-F30AC3A18F23}"/>
              </a:ext>
            </a:extLst>
          </p:cNvPr>
          <p:cNvSpPr txBox="1"/>
          <p:nvPr/>
        </p:nvSpPr>
        <p:spPr>
          <a:xfrm>
            <a:off x="951342" y="6311760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D85505E-2F9A-266F-DC4E-9BC8CA405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00558"/>
              </p:ext>
            </p:extLst>
          </p:nvPr>
        </p:nvGraphicFramePr>
        <p:xfrm>
          <a:off x="1132000" y="1842002"/>
          <a:ext cx="7060658" cy="4487338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387582">
                  <a:extLst>
                    <a:ext uri="{9D8B030D-6E8A-4147-A177-3AD203B41FA5}">
                      <a16:colId xmlns:a16="http://schemas.microsoft.com/office/drawing/2014/main" val="3224528141"/>
                    </a:ext>
                  </a:extLst>
                </a:gridCol>
                <a:gridCol w="756055">
                  <a:extLst>
                    <a:ext uri="{9D8B030D-6E8A-4147-A177-3AD203B41FA5}">
                      <a16:colId xmlns:a16="http://schemas.microsoft.com/office/drawing/2014/main" val="284527093"/>
                    </a:ext>
                  </a:extLst>
                </a:gridCol>
                <a:gridCol w="1088551">
                  <a:extLst>
                    <a:ext uri="{9D8B030D-6E8A-4147-A177-3AD203B41FA5}">
                      <a16:colId xmlns:a16="http://schemas.microsoft.com/office/drawing/2014/main" val="2704365528"/>
                    </a:ext>
                  </a:extLst>
                </a:gridCol>
                <a:gridCol w="855842">
                  <a:extLst>
                    <a:ext uri="{9D8B030D-6E8A-4147-A177-3AD203B41FA5}">
                      <a16:colId xmlns:a16="http://schemas.microsoft.com/office/drawing/2014/main" val="3436925404"/>
                    </a:ext>
                  </a:extLst>
                </a:gridCol>
                <a:gridCol w="974866">
                  <a:extLst>
                    <a:ext uri="{9D8B030D-6E8A-4147-A177-3AD203B41FA5}">
                      <a16:colId xmlns:a16="http://schemas.microsoft.com/office/drawing/2014/main" val="3018344730"/>
                    </a:ext>
                  </a:extLst>
                </a:gridCol>
                <a:gridCol w="756944">
                  <a:extLst>
                    <a:ext uri="{9D8B030D-6E8A-4147-A177-3AD203B41FA5}">
                      <a16:colId xmlns:a16="http://schemas.microsoft.com/office/drawing/2014/main" val="2264803554"/>
                    </a:ext>
                  </a:extLst>
                </a:gridCol>
                <a:gridCol w="1240818">
                  <a:extLst>
                    <a:ext uri="{9D8B030D-6E8A-4147-A177-3AD203B41FA5}">
                      <a16:colId xmlns:a16="http://schemas.microsoft.com/office/drawing/2014/main" val="2150501021"/>
                    </a:ext>
                  </a:extLst>
                </a:gridCol>
              </a:tblGrid>
              <a:tr h="47559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Dependência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Dimensões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TUG's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290567"/>
                  </a:ext>
                </a:extLst>
              </a:tr>
              <a:tr h="73006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pt-BR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Área (m²)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Perímetro (m)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Nº Pontos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(VA)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Total (VA)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971001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Quarto 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3262628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Quarto 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36844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Banheiro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237146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Hall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0935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007046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Cozinha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049393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Sala de Jantar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3528747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Varanda / A. Serviço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2208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0650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241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7436F-19F6-2313-7F4C-6B254254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7A98C48-51FE-4226-DEE8-2D01BBA3F451}"/>
              </a:ext>
            </a:extLst>
          </p:cNvPr>
          <p:cNvSpPr/>
          <p:nvPr/>
        </p:nvSpPr>
        <p:spPr>
          <a:xfrm>
            <a:off x="3460865" y="392351"/>
            <a:ext cx="222227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BC56FC-96C2-F0C5-75E4-9BA1B512C7ED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9ACF31-F13F-00A2-82F2-4FF420C35248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F11C50B-8E9D-15FA-442B-C9EFFC92F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9EB5F5E-D7D3-EA91-EAF6-CDD7234180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0A8CCD2-165A-BC14-EDA3-23575AF1C563}"/>
              </a:ext>
            </a:extLst>
          </p:cNvPr>
          <p:cNvSpPr txBox="1"/>
          <p:nvPr/>
        </p:nvSpPr>
        <p:spPr>
          <a:xfrm>
            <a:off x="1034473" y="1422399"/>
            <a:ext cx="7352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TUE’s: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Banheiro: chuveiro elétrico de 6800W;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Quarto 1: ar-condicionado de 1000W.</a:t>
            </a:r>
          </a:p>
        </p:txBody>
      </p:sp>
    </p:spTree>
    <p:extLst>
      <p:ext uri="{BB962C8B-B14F-4D97-AF65-F5344CB8AC3E}">
        <p14:creationId xmlns:p14="http://schemas.microsoft.com/office/powerpoint/2010/main" val="712445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A54F7-1078-CB14-27B4-D54E382F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7886A6E-65D0-8845-91B2-B55CCB3DF63D}"/>
              </a:ext>
            </a:extLst>
          </p:cNvPr>
          <p:cNvSpPr/>
          <p:nvPr/>
        </p:nvSpPr>
        <p:spPr>
          <a:xfrm>
            <a:off x="3433618" y="392351"/>
            <a:ext cx="227677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01D6AA-199C-6F79-7911-6F28E951AA38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E0F40C-0ECC-C9A8-E0D3-7B1D8E78F16B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7B7CEE0-F024-5D1A-DB7A-BA47DD5A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F7F5F6BE-314E-1771-CFC2-F725986DA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FA0D6C3-A129-A249-4BF4-BAB5615F31A6}"/>
              </a:ext>
            </a:extLst>
          </p:cNvPr>
          <p:cNvSpPr txBox="1"/>
          <p:nvPr/>
        </p:nvSpPr>
        <p:spPr>
          <a:xfrm>
            <a:off x="868217" y="1332305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Representação dos Pontos de Tomada e Iluminação: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50D779-D2AA-9118-805D-52BB16F13DDE}"/>
              </a:ext>
            </a:extLst>
          </p:cNvPr>
          <p:cNvSpPr txBox="1"/>
          <p:nvPr/>
        </p:nvSpPr>
        <p:spPr>
          <a:xfrm>
            <a:off x="923634" y="6178289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1897D2E-9A47-8149-B889-5D2C9AF0A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605" y="1984008"/>
            <a:ext cx="4051368" cy="41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48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3EC6B-EE6C-66A5-CDB7-B115DFA1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820693F-0F77-AA92-CACF-1CE1BD7E516F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ECF23B1-EED8-86C3-FCB0-A6DAD5D7E229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7E54854-653B-32AC-8C19-457E0A72FF17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D6586B-0C1E-8AAD-419F-827E4DD0A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0B53C18-2AEC-5054-A622-715D0453DD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94E813E-EF7F-5618-7CC1-1E2013F91C1A}"/>
              </a:ext>
            </a:extLst>
          </p:cNvPr>
          <p:cNvSpPr txBox="1"/>
          <p:nvPr/>
        </p:nvSpPr>
        <p:spPr>
          <a:xfrm>
            <a:off x="1099128" y="1871318"/>
            <a:ext cx="7352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Calculada somando as cargas de iluminação, TUG’s e TUE’s;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Aplicação dos fatores de demanda da DIS-NOR-030 (ELEKTRO, 2023), conforme tabelas 6,  7 e 11;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Circuito exclusivos: chuveiro e ar-condicionado.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03E0EF7-AB3A-E35E-7801-B2856EE1A542}"/>
              </a:ext>
            </a:extLst>
          </p:cNvPr>
          <p:cNvSpPr txBox="1"/>
          <p:nvPr/>
        </p:nvSpPr>
        <p:spPr>
          <a:xfrm>
            <a:off x="895925" y="1305961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Demanda Total do Apartamento Modelo: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2470-FDD0-B1D0-FEDF-52F04171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C68C84B-BAFD-2FD6-6752-FFA32BA39821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4352A4-588A-F5D5-DB71-6BBA3D71E7D7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3F7C7B9-99A8-DFC1-3384-BC32870DD65E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DAE4C34-A0B0-E331-294F-C8180CECA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B6D3E9D0-067F-F004-F412-7524F8486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104DF98-FDF1-CF84-ED14-52FDF9699DEF}"/>
              </a:ext>
            </a:extLst>
          </p:cNvPr>
          <p:cNvSpPr txBox="1"/>
          <p:nvPr/>
        </p:nvSpPr>
        <p:spPr>
          <a:xfrm>
            <a:off x="895925" y="1305961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Demanda Total do Apartamento Modelo: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E182E4-B564-7E08-2001-F0D9CF98835A}"/>
              </a:ext>
            </a:extLst>
          </p:cNvPr>
          <p:cNvSpPr txBox="1"/>
          <p:nvPr/>
        </p:nvSpPr>
        <p:spPr>
          <a:xfrm>
            <a:off x="951342" y="5724772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059388F-2408-E2E8-9E5F-7AC706C1C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761263"/>
              </p:ext>
            </p:extLst>
          </p:nvPr>
        </p:nvGraphicFramePr>
        <p:xfrm>
          <a:off x="685031" y="2605676"/>
          <a:ext cx="7829349" cy="2729230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620520">
                  <a:extLst>
                    <a:ext uri="{9D8B030D-6E8A-4147-A177-3AD203B41FA5}">
                      <a16:colId xmlns:a16="http://schemas.microsoft.com/office/drawing/2014/main" val="974585859"/>
                    </a:ext>
                  </a:extLst>
                </a:gridCol>
                <a:gridCol w="2252472">
                  <a:extLst>
                    <a:ext uri="{9D8B030D-6E8A-4147-A177-3AD203B41FA5}">
                      <a16:colId xmlns:a16="http://schemas.microsoft.com/office/drawing/2014/main" val="4032488733"/>
                    </a:ext>
                  </a:extLst>
                </a:gridCol>
                <a:gridCol w="1809877">
                  <a:extLst>
                    <a:ext uri="{9D8B030D-6E8A-4147-A177-3AD203B41FA5}">
                      <a16:colId xmlns:a16="http://schemas.microsoft.com/office/drawing/2014/main" val="460325176"/>
                    </a:ext>
                  </a:extLst>
                </a:gridCol>
                <a:gridCol w="2146480">
                  <a:extLst>
                    <a:ext uri="{9D8B030D-6E8A-4147-A177-3AD203B41FA5}">
                      <a16:colId xmlns:a16="http://schemas.microsoft.com/office/drawing/2014/main" val="2286116574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Tipo de Carga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Instalada (VA)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Fator de Demanda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Demanda Parcial (VA)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356379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Iluminação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0,86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120,4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466198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de Uso Geral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2640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6158611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Chuveiro (TUE)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0029566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Ar-condicionado (TUE)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1913879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Geral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14540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10560,4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2350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008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0C4FF-E280-6446-93F7-048A0F61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5B1D880-D0C5-4FD5-6124-D4843628A564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B8699A-E820-0106-CB97-B11DB858F7D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77E0EE-948C-5573-BBF1-1681F7934CF7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7AABC21-5C88-5592-2F5C-758453C4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A30465B-C394-4F2A-88ED-0F7E31DFB1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4DA4C20-3C4E-0FF3-A970-C13847AF1863}"/>
                  </a:ext>
                </a:extLst>
              </p:cNvPr>
              <p:cNvSpPr txBox="1"/>
              <p:nvPr/>
            </p:nvSpPr>
            <p:spPr>
              <a:xfrm>
                <a:off x="1034473" y="1422399"/>
                <a:ext cx="7352145" cy="3752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Dimensionamento dos Condutores:</a:t>
                </a: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Método B1 – eletroduto embutido em alvenaria;</a:t>
                </a: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Fatores de correção de temperatura e agrupamento;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Fator de correção de temperatura de 0,87 / 40ºC (segurança térmica);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cálculo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foi realizado considerando a potência S, as tensões de cada circuito e os fatores de correção de temperatura (FCT) e agrupamento (FCA):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𝐹𝐶𝑇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𝐹𝐶𝐴</m:t>
                          </m:r>
                        </m:den>
                      </m:f>
                    </m:oMath>
                  </m:oMathPara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4DA4C20-3C4E-0FF3-A970-C13847AF1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73" y="1422399"/>
                <a:ext cx="7352145" cy="3752117"/>
              </a:xfrm>
              <a:prstGeom prst="rect">
                <a:avLst/>
              </a:prstGeom>
              <a:blipFill>
                <a:blip r:embed="rId4"/>
                <a:stretch>
                  <a:fillRect l="-1327" t="-1299" r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552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07ACB-E1C8-4DE1-083F-991C89541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3199FB9-5CA1-B134-DD1A-7CCD5D31CF4B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EF18DD-001F-B43B-51B9-9262B9BD1919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EDB0D7-F827-ABCD-1C50-ADE8F883328C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6ACEFE3-AD02-864E-3348-CD01BB691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D81E2113-DF1B-594D-16B1-E0A5A80118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C8B7BD8-E84D-D414-123B-D088700BEC65}"/>
              </a:ext>
            </a:extLst>
          </p:cNvPr>
          <p:cNvSpPr txBox="1"/>
          <p:nvPr/>
        </p:nvSpPr>
        <p:spPr>
          <a:xfrm>
            <a:off x="1054983" y="1034312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Dimensionamentos dos Condutores: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A11688-1D1D-72A6-A066-B049E58C094D}"/>
              </a:ext>
            </a:extLst>
          </p:cNvPr>
          <p:cNvSpPr txBox="1"/>
          <p:nvPr/>
        </p:nvSpPr>
        <p:spPr>
          <a:xfrm>
            <a:off x="923636" y="6365827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33AF17-4BD1-F9CD-08EA-2FE3AB612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948291"/>
              </p:ext>
            </p:extLst>
          </p:nvPr>
        </p:nvGraphicFramePr>
        <p:xfrm>
          <a:off x="103699" y="1670006"/>
          <a:ext cx="8936602" cy="4460163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258188">
                  <a:extLst>
                    <a:ext uri="{9D8B030D-6E8A-4147-A177-3AD203B41FA5}">
                      <a16:colId xmlns:a16="http://schemas.microsoft.com/office/drawing/2014/main" val="1750962723"/>
                    </a:ext>
                  </a:extLst>
                </a:gridCol>
                <a:gridCol w="2179473">
                  <a:extLst>
                    <a:ext uri="{9D8B030D-6E8A-4147-A177-3AD203B41FA5}">
                      <a16:colId xmlns:a16="http://schemas.microsoft.com/office/drawing/2014/main" val="3445766762"/>
                    </a:ext>
                  </a:extLst>
                </a:gridCol>
                <a:gridCol w="774564">
                  <a:extLst>
                    <a:ext uri="{9D8B030D-6E8A-4147-A177-3AD203B41FA5}">
                      <a16:colId xmlns:a16="http://schemas.microsoft.com/office/drawing/2014/main" val="1811714474"/>
                    </a:ext>
                  </a:extLst>
                </a:gridCol>
                <a:gridCol w="935762">
                  <a:extLst>
                    <a:ext uri="{9D8B030D-6E8A-4147-A177-3AD203B41FA5}">
                      <a16:colId xmlns:a16="http://schemas.microsoft.com/office/drawing/2014/main" val="1283390767"/>
                    </a:ext>
                  </a:extLst>
                </a:gridCol>
                <a:gridCol w="547215">
                  <a:extLst>
                    <a:ext uri="{9D8B030D-6E8A-4147-A177-3AD203B41FA5}">
                      <a16:colId xmlns:a16="http://schemas.microsoft.com/office/drawing/2014/main" val="1650182001"/>
                    </a:ext>
                  </a:extLst>
                </a:gridCol>
                <a:gridCol w="765201">
                  <a:extLst>
                    <a:ext uri="{9D8B030D-6E8A-4147-A177-3AD203B41FA5}">
                      <a16:colId xmlns:a16="http://schemas.microsoft.com/office/drawing/2014/main" val="2532008611"/>
                    </a:ext>
                  </a:extLst>
                </a:gridCol>
                <a:gridCol w="723762">
                  <a:extLst>
                    <a:ext uri="{9D8B030D-6E8A-4147-A177-3AD203B41FA5}">
                      <a16:colId xmlns:a16="http://schemas.microsoft.com/office/drawing/2014/main" val="3135573824"/>
                    </a:ext>
                  </a:extLst>
                </a:gridCol>
                <a:gridCol w="1034473">
                  <a:extLst>
                    <a:ext uri="{9D8B030D-6E8A-4147-A177-3AD203B41FA5}">
                      <a16:colId xmlns:a16="http://schemas.microsoft.com/office/drawing/2014/main" val="1018985580"/>
                    </a:ext>
                  </a:extLst>
                </a:gridCol>
                <a:gridCol w="803564">
                  <a:extLst>
                    <a:ext uri="{9D8B030D-6E8A-4147-A177-3AD203B41FA5}">
                      <a16:colId xmlns:a16="http://schemas.microsoft.com/office/drawing/2014/main" val="16707907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67784940"/>
                    </a:ext>
                  </a:extLst>
                </a:gridCol>
              </a:tblGrid>
              <a:tr h="87226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44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Circuito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Pot. (VA)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Tensão (V)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FCT (40°)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IB (A)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Seção Cabo (mm²)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cabo (A)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cabo </a:t>
                      </a:r>
                      <a:r>
                        <a:rPr lang="pt-BR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Corrig</a:t>
                      </a: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- IZ (A)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224647443"/>
                  </a:ext>
                </a:extLst>
              </a:tr>
              <a:tr h="28731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Iluminação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12,18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3977642102"/>
                  </a:ext>
                </a:extLst>
              </a:tr>
              <a:tr h="2224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Chuveiro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35,53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35,67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2028814644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cozinha bancada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10,86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2654819028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cozinha parede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6,79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16,70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1666450217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quarto 2 e banheiro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13,58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3144751215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quarto 1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3,39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16,70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940578124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sala jantar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3,39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16,70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3394261900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pt-BR" sz="12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 sala tv e varanda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10,86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20,88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344446474"/>
                  </a:ext>
                </a:extLst>
              </a:tr>
              <a:tr h="42418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BR" sz="12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 condicionado quarto 1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pt-BR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220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5,22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20,88</a:t>
                      </a:r>
                      <a:endParaRPr lang="pt-BR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303" marR="36303" marT="0" marB="0" anchor="ctr"/>
                </a:tc>
                <a:extLst>
                  <a:ext uri="{0D108BD9-81ED-4DB2-BD59-A6C34878D82A}">
                    <a16:rowId xmlns:a16="http://schemas.microsoft.com/office/drawing/2014/main" val="1202548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98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0FEA1-DD9E-858B-EFA4-1D673EFB7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D71D80A-ECCC-4C25-DBEA-68EBB7111FC0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991CA9-F9B4-97AE-25E8-4BBCD59934E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91594F-22C6-38BE-12CA-669807224FCF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FC9D20B-1D20-3258-A6AF-EE4E5390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7A925E2-E2B7-B11B-1E1A-25C940B85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AAB112E-CAFC-1D9D-0FAD-B3D50A0278BC}"/>
              </a:ext>
            </a:extLst>
          </p:cNvPr>
          <p:cNvSpPr txBox="1"/>
          <p:nvPr/>
        </p:nvSpPr>
        <p:spPr>
          <a:xfrm>
            <a:off x="1034473" y="1422399"/>
            <a:ext cx="7352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dos Eletrodutos: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Ocupação máxima de 40%;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Agrupamento por circuitos;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 instalação e manutenção;</a:t>
            </a:r>
          </a:p>
        </p:txBody>
      </p:sp>
    </p:spTree>
    <p:extLst>
      <p:ext uri="{BB962C8B-B14F-4D97-AF65-F5344CB8AC3E}">
        <p14:creationId xmlns:p14="http://schemas.microsoft.com/office/powerpoint/2010/main" val="2800417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8426-E517-0272-BE3B-183F0B83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6A5BC2D-3BD1-E343-527E-0C0364AB0F77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BF6FDC-5ACD-31E3-1BEF-94F51E3E8B2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FBFA21-CE13-FD16-C2F7-7D1C1C025C05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02378F-D047-DEA1-5030-422EA0EF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774F58F-A3F4-E894-7668-A196842CC6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05AAB4-262D-2D09-E246-5E7FFF2764B0}"/>
              </a:ext>
            </a:extLst>
          </p:cNvPr>
          <p:cNvSpPr txBox="1"/>
          <p:nvPr/>
        </p:nvSpPr>
        <p:spPr>
          <a:xfrm>
            <a:off x="1054983" y="1305961"/>
            <a:ext cx="7352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Dimensionamentos dos Eletrodutos: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D1EE15-20B2-DC93-8A33-709157B3E711}"/>
              </a:ext>
            </a:extLst>
          </p:cNvPr>
          <p:cNvSpPr txBox="1"/>
          <p:nvPr/>
        </p:nvSpPr>
        <p:spPr>
          <a:xfrm>
            <a:off x="1082690" y="5552039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4B72F014-3507-DF67-EFEA-C49BA43E1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93706"/>
              </p:ext>
            </p:extLst>
          </p:nvPr>
        </p:nvGraphicFramePr>
        <p:xfrm>
          <a:off x="1576977" y="2404392"/>
          <a:ext cx="6308154" cy="2586355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1122490">
                  <a:extLst>
                    <a:ext uri="{9D8B030D-6E8A-4147-A177-3AD203B41FA5}">
                      <a16:colId xmlns:a16="http://schemas.microsoft.com/office/drawing/2014/main" val="686914488"/>
                    </a:ext>
                  </a:extLst>
                </a:gridCol>
                <a:gridCol w="1952752">
                  <a:extLst>
                    <a:ext uri="{9D8B030D-6E8A-4147-A177-3AD203B41FA5}">
                      <a16:colId xmlns:a16="http://schemas.microsoft.com/office/drawing/2014/main" val="2976415613"/>
                    </a:ext>
                  </a:extLst>
                </a:gridCol>
                <a:gridCol w="1676527">
                  <a:extLst>
                    <a:ext uri="{9D8B030D-6E8A-4147-A177-3AD203B41FA5}">
                      <a16:colId xmlns:a16="http://schemas.microsoft.com/office/drawing/2014/main" val="1825643521"/>
                    </a:ext>
                  </a:extLst>
                </a:gridCol>
                <a:gridCol w="1556385">
                  <a:extLst>
                    <a:ext uri="{9D8B030D-6E8A-4147-A177-3AD203B41FA5}">
                      <a16:colId xmlns:a16="http://schemas.microsoft.com/office/drawing/2014/main" val="4125226468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Eletroduto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Circuitos agrupados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 de condutores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Dimensão (pol.)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860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1; 6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25961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3/4"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29612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46288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4; 8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2103268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26941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3849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1/2"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6447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136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C0329-41E0-6788-FBD2-2DAF6E0E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5A32740-9810-6EED-3DA1-8601221DC430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E4B88D5-608C-72DD-35C0-E47AEA14766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B83718-C4D5-9C08-8824-DD71C8483B2A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E1FE8A2-C96B-6FB9-66DF-7B369CB2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D4E65C4-F511-B676-B30D-2C8FD1A68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428AABC-57E1-05AB-2988-69AD8F4B075D}"/>
                  </a:ext>
                </a:extLst>
              </p:cNvPr>
              <p:cNvSpPr txBox="1"/>
              <p:nvPr/>
            </p:nvSpPr>
            <p:spPr>
              <a:xfrm>
                <a:off x="1034473" y="1422399"/>
                <a:ext cx="7352145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Dimensionamento das Proteções:</a:t>
                </a: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Critério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≤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≤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Critério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𝟒𝟓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𝑰𝒛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Disjuntores curvas C e B (para cargas resistivas).</a:t>
                </a: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9428AABC-57E1-05AB-2988-69AD8F4B0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73" y="1422399"/>
                <a:ext cx="7352145" cy="2123658"/>
              </a:xfrm>
              <a:prstGeom prst="rect">
                <a:avLst/>
              </a:prstGeom>
              <a:blipFill>
                <a:blip r:embed="rId4"/>
                <a:stretch>
                  <a:fillRect l="-1327" t="-2292" b="-34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08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DBCA2-982B-ABC3-443D-8EE5DFF2A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AED6CAE-1862-79FB-0F46-E4EC063FCF50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E7074C6-FCF9-4B88-6767-2CE441B4638F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3FF0DFB-BA9E-33AC-193F-4EA8E71F640A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8808C3C-E2DD-B585-F973-40823773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6B2AA0D-0BD5-4A83-EF24-5F1AF49ACC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11CDCEB-AD45-CE8E-A6E0-4261DA0AA26C}"/>
                  </a:ext>
                </a:extLst>
              </p:cNvPr>
              <p:cNvSpPr txBox="1"/>
              <p:nvPr/>
            </p:nvSpPr>
            <p:spPr>
              <a:xfrm>
                <a:off x="1064219" y="1121295"/>
                <a:ext cx="735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Verificação da Condição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≤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pt-BR" b="1" i="1">
                        <a:latin typeface="Cambria Math" panose="02040503050406030204" pitchFamily="18" charset="0"/>
                      </a:rPr>
                      <m:t> ≤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  <m:r>
                      <a:rPr lang="pt-BR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011CDCEB-AD45-CE8E-A6E0-4261DA0AA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9" y="1121295"/>
                <a:ext cx="7352145" cy="369332"/>
              </a:xfrm>
              <a:prstGeom prst="rect">
                <a:avLst/>
              </a:prstGeom>
              <a:blipFill>
                <a:blip r:embed="rId4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80626A4B-CB2D-B009-ACE6-26DA94DF981F}"/>
              </a:ext>
            </a:extLst>
          </p:cNvPr>
          <p:cNvSpPr txBox="1"/>
          <p:nvPr/>
        </p:nvSpPr>
        <p:spPr>
          <a:xfrm>
            <a:off x="1091927" y="6311760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FDDD41D-96C2-137A-F6B8-7C2FBDEE9A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2940471"/>
                  </p:ext>
                </p:extLst>
              </p:nvPr>
            </p:nvGraphicFramePr>
            <p:xfrm>
              <a:off x="1249737" y="1749101"/>
              <a:ext cx="6651334" cy="4466287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622187">
                      <a:extLst>
                        <a:ext uri="{9D8B030D-6E8A-4147-A177-3AD203B41FA5}">
                          <a16:colId xmlns:a16="http://schemas.microsoft.com/office/drawing/2014/main" val="983782490"/>
                        </a:ext>
                      </a:extLst>
                    </a:gridCol>
                    <a:gridCol w="1948712">
                      <a:extLst>
                        <a:ext uri="{9D8B030D-6E8A-4147-A177-3AD203B41FA5}">
                          <a16:colId xmlns:a16="http://schemas.microsoft.com/office/drawing/2014/main" val="322805300"/>
                        </a:ext>
                      </a:extLst>
                    </a:gridCol>
                    <a:gridCol w="571362">
                      <a:extLst>
                        <a:ext uri="{9D8B030D-6E8A-4147-A177-3AD203B41FA5}">
                          <a16:colId xmlns:a16="http://schemas.microsoft.com/office/drawing/2014/main" val="3469868083"/>
                        </a:ext>
                      </a:extLst>
                    </a:gridCol>
                    <a:gridCol w="667919">
                      <a:extLst>
                        <a:ext uri="{9D8B030D-6E8A-4147-A177-3AD203B41FA5}">
                          <a16:colId xmlns:a16="http://schemas.microsoft.com/office/drawing/2014/main" val="2322251580"/>
                        </a:ext>
                      </a:extLst>
                    </a:gridCol>
                    <a:gridCol w="521977">
                      <a:extLst>
                        <a:ext uri="{9D8B030D-6E8A-4147-A177-3AD203B41FA5}">
                          <a16:colId xmlns:a16="http://schemas.microsoft.com/office/drawing/2014/main" val="856211804"/>
                        </a:ext>
                      </a:extLst>
                    </a:gridCol>
                    <a:gridCol w="695615">
                      <a:extLst>
                        <a:ext uri="{9D8B030D-6E8A-4147-A177-3AD203B41FA5}">
                          <a16:colId xmlns:a16="http://schemas.microsoft.com/office/drawing/2014/main" val="1541609554"/>
                        </a:ext>
                      </a:extLst>
                    </a:gridCol>
                    <a:gridCol w="544945">
                      <a:extLst>
                        <a:ext uri="{9D8B030D-6E8A-4147-A177-3AD203B41FA5}">
                          <a16:colId xmlns:a16="http://schemas.microsoft.com/office/drawing/2014/main" val="590717678"/>
                        </a:ext>
                      </a:extLst>
                    </a:gridCol>
                    <a:gridCol w="1078617">
                      <a:extLst>
                        <a:ext uri="{9D8B030D-6E8A-4147-A177-3AD203B41FA5}">
                          <a16:colId xmlns:a16="http://schemas.microsoft.com/office/drawing/2014/main" val="3200636916"/>
                        </a:ext>
                      </a:extLst>
                    </a:gridCol>
                  </a:tblGrid>
                  <a:tr h="314563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Circuito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Descrição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 gridSpan="6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 ≤ </m:t>
                                </m:r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 ≤ </m:t>
                                </m:r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600162"/>
                      </a:ext>
                    </a:extLst>
                  </a:tr>
                  <a:tr h="31456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FCA</a:t>
                          </a:r>
                          <a:endParaRPr lang="pt-BR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sub>
                                </m:sSub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pt-BR" sz="12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4081457736"/>
                      </a:ext>
                    </a:extLst>
                  </a:tr>
                  <a:tr h="21990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Iluminação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1,10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12,18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4027900025"/>
                      </a:ext>
                    </a:extLst>
                  </a:tr>
                  <a:tr h="21990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Chuveiro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30,91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35,67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352465593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Bancada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9,45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486370305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Parede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4,72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721305088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2 e Banheiro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11,81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702973140"/>
                      </a:ext>
                    </a:extLst>
                  </a:tr>
                  <a:tr h="32823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2,36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560917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de Jantar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2,36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321522539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pt-BR" sz="12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TV e Varanda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9,45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885732452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pt-BR" sz="12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Ar-condicionado Quarto 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4,55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5245754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6FDDD41D-96C2-137A-F6B8-7C2FBDEE9A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2940471"/>
                  </p:ext>
                </p:extLst>
              </p:nvPr>
            </p:nvGraphicFramePr>
            <p:xfrm>
              <a:off x="1249737" y="1749101"/>
              <a:ext cx="6651334" cy="4466287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622187">
                      <a:extLst>
                        <a:ext uri="{9D8B030D-6E8A-4147-A177-3AD203B41FA5}">
                          <a16:colId xmlns:a16="http://schemas.microsoft.com/office/drawing/2014/main" val="983782490"/>
                        </a:ext>
                      </a:extLst>
                    </a:gridCol>
                    <a:gridCol w="1948712">
                      <a:extLst>
                        <a:ext uri="{9D8B030D-6E8A-4147-A177-3AD203B41FA5}">
                          <a16:colId xmlns:a16="http://schemas.microsoft.com/office/drawing/2014/main" val="322805300"/>
                        </a:ext>
                      </a:extLst>
                    </a:gridCol>
                    <a:gridCol w="571362">
                      <a:extLst>
                        <a:ext uri="{9D8B030D-6E8A-4147-A177-3AD203B41FA5}">
                          <a16:colId xmlns:a16="http://schemas.microsoft.com/office/drawing/2014/main" val="3469868083"/>
                        </a:ext>
                      </a:extLst>
                    </a:gridCol>
                    <a:gridCol w="667919">
                      <a:extLst>
                        <a:ext uri="{9D8B030D-6E8A-4147-A177-3AD203B41FA5}">
                          <a16:colId xmlns:a16="http://schemas.microsoft.com/office/drawing/2014/main" val="2322251580"/>
                        </a:ext>
                      </a:extLst>
                    </a:gridCol>
                    <a:gridCol w="521977">
                      <a:extLst>
                        <a:ext uri="{9D8B030D-6E8A-4147-A177-3AD203B41FA5}">
                          <a16:colId xmlns:a16="http://schemas.microsoft.com/office/drawing/2014/main" val="856211804"/>
                        </a:ext>
                      </a:extLst>
                    </a:gridCol>
                    <a:gridCol w="695615">
                      <a:extLst>
                        <a:ext uri="{9D8B030D-6E8A-4147-A177-3AD203B41FA5}">
                          <a16:colId xmlns:a16="http://schemas.microsoft.com/office/drawing/2014/main" val="1541609554"/>
                        </a:ext>
                      </a:extLst>
                    </a:gridCol>
                    <a:gridCol w="544945">
                      <a:extLst>
                        <a:ext uri="{9D8B030D-6E8A-4147-A177-3AD203B41FA5}">
                          <a16:colId xmlns:a16="http://schemas.microsoft.com/office/drawing/2014/main" val="590717678"/>
                        </a:ext>
                      </a:extLst>
                    </a:gridCol>
                    <a:gridCol w="1078617">
                      <a:extLst>
                        <a:ext uri="{9D8B030D-6E8A-4147-A177-3AD203B41FA5}">
                          <a16:colId xmlns:a16="http://schemas.microsoft.com/office/drawing/2014/main" val="3200636916"/>
                        </a:ext>
                      </a:extLst>
                    </a:gridCol>
                  </a:tblGrid>
                  <a:tr h="350520"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Circuito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Descrição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 gridSpan="6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39890" marR="39890" marT="0" marB="0" anchor="ctr">
                        <a:blipFill>
                          <a:blip r:embed="rId5"/>
                          <a:stretch>
                            <a:fillRect l="-62985" t="-1724" r="-149" b="-11672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600162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FCA</a:t>
                          </a:r>
                          <a:endParaRPr lang="pt-BR" sz="12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39890" marR="39890" marT="0" marB="0" anchor="ctr">
                        <a:blipFill>
                          <a:blip r:embed="rId5"/>
                          <a:stretch>
                            <a:fillRect l="-469091" t="-103509" r="-424545" b="-1087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39890" marR="39890" marT="0" marB="0" anchor="ctr">
                        <a:blipFill>
                          <a:blip r:embed="rId5"/>
                          <a:stretch>
                            <a:fillRect l="-623684" t="-103509" r="-235088" b="-1087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39890" marR="39890" marT="0" marB="0" anchor="ctr">
                        <a:blipFill>
                          <a:blip r:embed="rId5"/>
                          <a:stretch>
                            <a:fillRect l="-516949" t="-103509" r="-565" b="-1087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1457736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Iluminação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1,10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12,18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4027900025"/>
                      </a:ext>
                    </a:extLst>
                  </a:tr>
                  <a:tr h="24142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Chuveiro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30,91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35,67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352465593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Bancada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9,45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486370305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Parede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4,72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721305088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2 e Banheiro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11,81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702973140"/>
                      </a:ext>
                    </a:extLst>
                  </a:tr>
                  <a:tr h="32823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2,36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3354560917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pt-BR" sz="12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de Jantar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0,8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2,36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16,70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321522539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pt-BR" sz="12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TV e Varanda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9,45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2885732452"/>
                      </a:ext>
                    </a:extLst>
                  </a:tr>
                  <a:tr h="4923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pt-BR" sz="12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Ar-condicionado Quarto 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4,55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20,88</a:t>
                          </a:r>
                          <a:endParaRPr lang="pt-BR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39890" marR="39890" marT="0" marB="0" anchor="ctr"/>
                    </a:tc>
                    <a:extLst>
                      <a:ext uri="{0D108BD9-81ED-4DB2-BD59-A6C34878D82A}">
                        <a16:rowId xmlns:a16="http://schemas.microsoft.com/office/drawing/2014/main" val="5245754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72594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70A02-11E3-91DB-60A0-B24736A6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F11808C-6ADB-B25B-BEF4-014D05AD636E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F82E427-53D9-6D5B-5F62-BA4B471BBA04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C8DDCC-7114-82B8-FB4F-DA57AE262F35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446ACD8-8A4F-3173-854D-2F525B8A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EF9DC32-30F4-B337-3861-54AB39AA88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BEDAAEE-923D-2F0E-2C71-4EC9EB873D59}"/>
              </a:ext>
            </a:extLst>
          </p:cNvPr>
          <p:cNvSpPr txBox="1"/>
          <p:nvPr/>
        </p:nvSpPr>
        <p:spPr>
          <a:xfrm>
            <a:off x="1051779" y="1472670"/>
            <a:ext cx="735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da Condição Térmica Prolongada: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E78249-50D8-EF62-A6E5-1EB091583D83}"/>
              </a:ext>
            </a:extLst>
          </p:cNvPr>
          <p:cNvSpPr txBox="1"/>
          <p:nvPr/>
        </p:nvSpPr>
        <p:spPr>
          <a:xfrm>
            <a:off x="1107196" y="5812827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12D19DDA-B892-7053-F788-3A6F48D9E5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027673"/>
                  </p:ext>
                </p:extLst>
              </p:nvPr>
            </p:nvGraphicFramePr>
            <p:xfrm>
              <a:off x="1414190" y="2126725"/>
              <a:ext cx="6652200" cy="3609980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955609">
                      <a:extLst>
                        <a:ext uri="{9D8B030D-6E8A-4147-A177-3AD203B41FA5}">
                          <a16:colId xmlns:a16="http://schemas.microsoft.com/office/drawing/2014/main" val="3402264223"/>
                        </a:ext>
                      </a:extLst>
                    </a:gridCol>
                    <a:gridCol w="2505917">
                      <a:extLst>
                        <a:ext uri="{9D8B030D-6E8A-4147-A177-3AD203B41FA5}">
                          <a16:colId xmlns:a16="http://schemas.microsoft.com/office/drawing/2014/main" val="2264488832"/>
                        </a:ext>
                      </a:extLst>
                    </a:gridCol>
                    <a:gridCol w="1138142">
                      <a:extLst>
                        <a:ext uri="{9D8B030D-6E8A-4147-A177-3AD203B41FA5}">
                          <a16:colId xmlns:a16="http://schemas.microsoft.com/office/drawing/2014/main" val="3417682141"/>
                        </a:ext>
                      </a:extLst>
                    </a:gridCol>
                    <a:gridCol w="419851">
                      <a:extLst>
                        <a:ext uri="{9D8B030D-6E8A-4147-A177-3AD203B41FA5}">
                          <a16:colId xmlns:a16="http://schemas.microsoft.com/office/drawing/2014/main" val="185820222"/>
                        </a:ext>
                      </a:extLst>
                    </a:gridCol>
                    <a:gridCol w="1632681">
                      <a:extLst>
                        <a:ext uri="{9D8B030D-6E8A-4147-A177-3AD203B41FA5}">
                          <a16:colId xmlns:a16="http://schemas.microsoft.com/office/drawing/2014/main" val="3287832457"/>
                        </a:ext>
                      </a:extLst>
                    </a:gridCol>
                  </a:tblGrid>
                  <a:tr h="18288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Circuito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Descrição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615281"/>
                      </a:ext>
                    </a:extLst>
                  </a:tr>
                  <a:tr h="18288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Método 1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buNone/>
                          </a:pPr>
                          <a:endParaRPr lang="pt-BR" sz="14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Método 2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68233969"/>
                      </a:ext>
                    </a:extLst>
                  </a:tr>
                  <a:tr h="18288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4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400">
                                    <a:effectLst/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  <m:r>
                                  <a:rPr lang="pt-BR" sz="1400">
                                    <a:effectLst/>
                                    <a:latin typeface="Cambria Math" panose="02040503050406030204" pitchFamily="18" charset="0"/>
                                  </a:rPr>
                                  <m:t>𝐼𝑛</m:t>
                                </m:r>
                              </m:oMath>
                            </m:oMathPara>
                          </a14:m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1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pt-BR" sz="14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400">
                                    <a:effectLst/>
                                    <a:latin typeface="Cambria Math" panose="02040503050406030204" pitchFamily="18" charset="0"/>
                                  </a:rPr>
                                  <m:t> ≤ 1,45.</m:t>
                                </m:r>
                                <m:r>
                                  <a:rPr lang="pt-BR" sz="1400">
                                    <a:effectLst/>
                                    <a:latin typeface="Cambria Math" panose="02040503050406030204" pitchFamily="18" charset="0"/>
                                  </a:rPr>
                                  <m:t>𝐼𝑧</m:t>
                                </m:r>
                              </m:oMath>
                            </m:oMathPara>
                          </a14:m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15551079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Iluminação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17,66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48894578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Chuveiro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43,2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51,72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84552878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Bancada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80101600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Parede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55061275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2 e Banheiro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9272416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1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35224976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de Jantar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44733759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TV e Varanda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54222819"/>
                      </a:ext>
                    </a:extLst>
                  </a:tr>
                  <a:tr h="2520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pt-BR" sz="14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Ar-condicionado Quarto 1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392952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ela 9">
                <a:extLst>
                  <a:ext uri="{FF2B5EF4-FFF2-40B4-BE49-F238E27FC236}">
                    <a16:creationId xmlns:a16="http://schemas.microsoft.com/office/drawing/2014/main" id="{12D19DDA-B892-7053-F788-3A6F48D9E5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027673"/>
                  </p:ext>
                </p:extLst>
              </p:nvPr>
            </p:nvGraphicFramePr>
            <p:xfrm>
              <a:off x="1414190" y="2126725"/>
              <a:ext cx="6652200" cy="3609980"/>
            </p:xfrm>
            <a:graphic>
              <a:graphicData uri="http://schemas.openxmlformats.org/drawingml/2006/table">
                <a:tbl>
                  <a:tblPr firstRow="1" firstCol="1" bandRow="1">
                    <a:tableStyleId>{C083E6E3-FA7D-4D7B-A595-EF9225AFEA82}</a:tableStyleId>
                  </a:tblPr>
                  <a:tblGrid>
                    <a:gridCol w="955609">
                      <a:extLst>
                        <a:ext uri="{9D8B030D-6E8A-4147-A177-3AD203B41FA5}">
                          <a16:colId xmlns:a16="http://schemas.microsoft.com/office/drawing/2014/main" val="3402264223"/>
                        </a:ext>
                      </a:extLst>
                    </a:gridCol>
                    <a:gridCol w="2505917">
                      <a:extLst>
                        <a:ext uri="{9D8B030D-6E8A-4147-A177-3AD203B41FA5}">
                          <a16:colId xmlns:a16="http://schemas.microsoft.com/office/drawing/2014/main" val="2264488832"/>
                        </a:ext>
                      </a:extLst>
                    </a:gridCol>
                    <a:gridCol w="1138142">
                      <a:extLst>
                        <a:ext uri="{9D8B030D-6E8A-4147-A177-3AD203B41FA5}">
                          <a16:colId xmlns:a16="http://schemas.microsoft.com/office/drawing/2014/main" val="3417682141"/>
                        </a:ext>
                      </a:extLst>
                    </a:gridCol>
                    <a:gridCol w="419851">
                      <a:extLst>
                        <a:ext uri="{9D8B030D-6E8A-4147-A177-3AD203B41FA5}">
                          <a16:colId xmlns:a16="http://schemas.microsoft.com/office/drawing/2014/main" val="185820222"/>
                        </a:ext>
                      </a:extLst>
                    </a:gridCol>
                    <a:gridCol w="1632681">
                      <a:extLst>
                        <a:ext uri="{9D8B030D-6E8A-4147-A177-3AD203B41FA5}">
                          <a16:colId xmlns:a16="http://schemas.microsoft.com/office/drawing/2014/main" val="3287832457"/>
                        </a:ext>
                      </a:extLst>
                    </a:gridCol>
                  </a:tblGrid>
                  <a:tr h="396240"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Circuito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rowSpan="3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Descrição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08588" t="-1538" r="-191" b="-84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6615281"/>
                      </a:ext>
                    </a:extLst>
                  </a:tr>
                  <a:tr h="28175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Método 1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algn="just">
                            <a:buNone/>
                          </a:pPr>
                          <a:endParaRPr lang="pt-BR" sz="14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Método 2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68233969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04278" t="-173846" r="-180749" b="-66769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307836" t="-173846" r="-373" b="-66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5551079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Iluminação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17,66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48894578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Chuveiro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43,2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51,72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84552878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Bancada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80101600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Cozinha – Parede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55061275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2 e Banheiro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9272416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Quarto 1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35224976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de Jantar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24,22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44733759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pt-BR" sz="1400" b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Tomadas Sala TV e Varanda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21,6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54222819"/>
                      </a:ext>
                    </a:extLst>
                  </a:tr>
                  <a:tr h="281750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pt-BR" sz="1400" b="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Ar-condicionado Quarto 1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13,5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≤</a:t>
                          </a:r>
                          <a:endParaRPr lang="pt-BR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pt-BR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30,27</a:t>
                          </a:r>
                          <a:endParaRPr lang="pt-BR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392952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052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0505-8E0F-30C3-B8D7-7A221777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A11449A-1662-21E9-4D42-EF2D0ABE0019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10AD930-6FCD-44E7-7DE3-E3697297E8F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A62927-9986-5BBE-DFC4-423FBB348E8F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B948820-F86D-BCBC-F7F1-909C93A1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3747D7C9-5FDA-13D7-6F3B-D38901766E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E7F219D-C091-FE80-498E-8BC070BA4EF1}"/>
                  </a:ext>
                </a:extLst>
              </p:cNvPr>
              <p:cNvSpPr txBox="1"/>
              <p:nvPr/>
            </p:nvSpPr>
            <p:spPr>
              <a:xfrm>
                <a:off x="1034473" y="1422399"/>
                <a:ext cx="73521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Demanda da edificação:</a:t>
                </a: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6 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apartamentos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argas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diversificadas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segundo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DIS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-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NOR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-030 (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ELEKTRO</m:t>
                    </m:r>
                    <m:r>
                      <m:rPr>
                        <m:nor/>
                      </m:rPr>
                      <a:rPr lang="pt-BR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2023)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BE7F219D-C091-FE80-498E-8BC070BA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73" y="1422399"/>
                <a:ext cx="7352145" cy="1569660"/>
              </a:xfrm>
              <a:prstGeom prst="rect">
                <a:avLst/>
              </a:prstGeom>
              <a:blipFill>
                <a:blip r:embed="rId4"/>
                <a:stretch>
                  <a:fillRect l="-1327" t="-3101" b="-50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2780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84E91-BAF4-7C91-9CDC-C49AD643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0139499E-FE1F-237E-3255-97BE2945EC58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2466BB-0666-6765-45AE-8EFEEC9DF4A5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395089-8C10-84FE-C6CA-9F9991F28D98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3541409-FE73-6718-1AC0-32165087D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1A087A5-85B4-C727-F63C-51DDD2FE31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85DB27A-2DB1-C0E8-2018-4B42D9ECED76}"/>
              </a:ext>
            </a:extLst>
          </p:cNvPr>
          <p:cNvSpPr txBox="1"/>
          <p:nvPr/>
        </p:nvSpPr>
        <p:spPr>
          <a:xfrm>
            <a:off x="1079487" y="1749921"/>
            <a:ext cx="735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Cálculo da demanda diversificada da edificação: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33FE89-270F-DC92-0D7D-A264C1CEEE14}"/>
              </a:ext>
            </a:extLst>
          </p:cNvPr>
          <p:cNvSpPr txBox="1"/>
          <p:nvPr/>
        </p:nvSpPr>
        <p:spPr>
          <a:xfrm>
            <a:off x="923636" y="5761936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0EDD768-DE46-769B-5BA3-EF9D9DD47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146000"/>
              </p:ext>
            </p:extLst>
          </p:nvPr>
        </p:nvGraphicFramePr>
        <p:xfrm>
          <a:off x="1079487" y="2539647"/>
          <a:ext cx="6970482" cy="2637790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2269173">
                  <a:extLst>
                    <a:ext uri="{9D8B030D-6E8A-4147-A177-3AD203B41FA5}">
                      <a16:colId xmlns:a16="http://schemas.microsoft.com/office/drawing/2014/main" val="2188880903"/>
                    </a:ext>
                  </a:extLst>
                </a:gridCol>
                <a:gridCol w="1102072">
                  <a:extLst>
                    <a:ext uri="{9D8B030D-6E8A-4147-A177-3AD203B41FA5}">
                      <a16:colId xmlns:a16="http://schemas.microsoft.com/office/drawing/2014/main" val="3140532713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34792994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333768384"/>
                    </a:ext>
                  </a:extLst>
                </a:gridCol>
                <a:gridCol w="1493346">
                  <a:extLst>
                    <a:ext uri="{9D8B030D-6E8A-4147-A177-3AD203B41FA5}">
                      <a16:colId xmlns:a16="http://schemas.microsoft.com/office/drawing/2014/main" val="2091470470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Carga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1 Apto (W)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Potência 16 Aptos (W)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FD – 16 Aptos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Demanda – 16 Aptos (W)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99542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Iluminação 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2240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0,66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1478,40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4359763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Tomadas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105600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0,24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25344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815225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Chuveiro Elétrico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108800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0,43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46784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7297901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Ar-Condicionado</a:t>
                      </a:r>
                      <a:endParaRPr lang="pt-BR" sz="1600" b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14400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8940599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Luminárias Área Comum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392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392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225639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pt-BR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14932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pt-BR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pt-BR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88.398,4 W</a:t>
                      </a:r>
                      <a:endParaRPr lang="pt-BR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983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655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7756-5005-534D-2EA9-7A1A7835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65CB4CC-3208-24A6-6CA4-4EE25E8EEB19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53FD3E-CD86-B4D4-77B5-71879F524368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6B9818-37C9-A9AF-2FDD-77B6DF9AA88E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6398C05-46E9-22E2-65E9-F5DA85E3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66F364B1-BA61-97BF-9574-0114A9610F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E601491-2F02-0031-59E8-C5530A6EF8F3}"/>
              </a:ext>
            </a:extLst>
          </p:cNvPr>
          <p:cNvSpPr txBox="1"/>
          <p:nvPr/>
        </p:nvSpPr>
        <p:spPr>
          <a:xfrm>
            <a:off x="1034473" y="1422399"/>
            <a:ext cx="73521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Ramal de Entrada 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DIS-NOR-036 (Elektro);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Condutores XLPE;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Ramal aéreo adotado;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Medição indireta com TC;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Transformador: 112,5 kVA;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Disjuntor geral: 300 A.</a:t>
            </a:r>
          </a:p>
        </p:txBody>
      </p:sp>
    </p:spTree>
    <p:extLst>
      <p:ext uri="{BB962C8B-B14F-4D97-AF65-F5344CB8AC3E}">
        <p14:creationId xmlns:p14="http://schemas.microsoft.com/office/powerpoint/2010/main" val="4131613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0C1B-BB94-242C-5A40-D55BEA3DD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F24CB8F-FE0E-F50F-6C58-837245BA942D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8079B30-D74E-51D5-9773-5D3BC152A825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42301D4-D15F-7CDE-A315-1E47FCDA544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0CBB5D-E5C0-01A1-0F7E-C86AD4891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0723262-482D-BDE3-577A-7C4783C9D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61BC4DE-8764-48F8-72FA-7743284B9100}"/>
              </a:ext>
            </a:extLst>
          </p:cNvPr>
          <p:cNvSpPr txBox="1"/>
          <p:nvPr/>
        </p:nvSpPr>
        <p:spPr>
          <a:xfrm>
            <a:off x="895927" y="1683371"/>
            <a:ext cx="735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Categoria do Ramal de Entrada - Trifásico 220Vca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C7C348F-FCA8-0B63-A363-AD7B3E22981A}"/>
              </a:ext>
            </a:extLst>
          </p:cNvPr>
          <p:cNvSpPr txBox="1"/>
          <p:nvPr/>
        </p:nvSpPr>
        <p:spPr>
          <a:xfrm>
            <a:off x="923635" y="5761936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ELEKTRO. DIS-NOR-036 – Padrão de entrada de energia elétrica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CADC8DB-F350-D126-4607-52AF888150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147"/>
          <a:stretch>
            <a:fillRect/>
          </a:stretch>
        </p:blipFill>
        <p:spPr bwMode="auto">
          <a:xfrm>
            <a:off x="657553" y="2381288"/>
            <a:ext cx="7903759" cy="331909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85441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E2620-9B4C-FDB0-1163-B76679002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534423AB-B8D9-5399-CA91-10B44E191433}"/>
              </a:ext>
            </a:extLst>
          </p:cNvPr>
          <p:cNvSpPr/>
          <p:nvPr/>
        </p:nvSpPr>
        <p:spPr>
          <a:xfrm>
            <a:off x="3232115" y="392351"/>
            <a:ext cx="267977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Metodologia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80EA26-5E69-200B-B0E0-F40E4B75D615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E73DF99-8C84-DE79-C9CE-E0895A8184A1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2CE1AA5-79E7-67CB-7CE3-83BEF715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16844498-A272-9FC1-19E5-9CE1BB22E2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134C437-6422-B2A2-9D1C-D35957FE8024}"/>
              </a:ext>
            </a:extLst>
          </p:cNvPr>
          <p:cNvSpPr txBox="1"/>
          <p:nvPr/>
        </p:nvSpPr>
        <p:spPr>
          <a:xfrm>
            <a:off x="1034473" y="1422399"/>
            <a:ext cx="73521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Diagrama Unifilar: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Alternância das fases entre os apartamentos;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Equilíbrio do sistema trifásico;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Redução da corrente no neutro;</a:t>
            </a:r>
          </a:p>
        </p:txBody>
      </p:sp>
    </p:spTree>
    <p:extLst>
      <p:ext uri="{BB962C8B-B14F-4D97-AF65-F5344CB8AC3E}">
        <p14:creationId xmlns:p14="http://schemas.microsoft.com/office/powerpoint/2010/main" val="3952945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BB6F-E794-4988-F05C-210F3DF1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75C691B-3A5D-D78E-7C7B-719E2B85A4C5}"/>
              </a:ext>
            </a:extLst>
          </p:cNvPr>
          <p:cNvSpPr/>
          <p:nvPr/>
        </p:nvSpPr>
        <p:spPr>
          <a:xfrm>
            <a:off x="3433615" y="392351"/>
            <a:ext cx="227677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Resultados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555DEF0-BD56-9295-9041-A998B4FE24CA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D954DBC-8771-F46C-5A0E-F5F4506295B9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DB6D7E-D973-EB26-A32C-C5E9ED951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0D781641-C6ED-8375-0B02-A55E8FD9D7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F0BFFE4-1313-3646-5322-CC5BD6E3B233}"/>
              </a:ext>
            </a:extLst>
          </p:cNvPr>
          <p:cNvSpPr txBox="1"/>
          <p:nvPr/>
        </p:nvSpPr>
        <p:spPr>
          <a:xfrm>
            <a:off x="895925" y="1361130"/>
            <a:ext cx="7352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Categoria do Ramal de Entrada - Trifásico 220Vca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1282C3-2691-4172-B435-35CC0974CE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1" t="12905" r="5412" b="5209"/>
          <a:stretch/>
        </p:blipFill>
        <p:spPr bwMode="auto">
          <a:xfrm>
            <a:off x="841092" y="1901441"/>
            <a:ext cx="7461810" cy="43753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EE7A00-3283-49DF-61D1-9AEDE9A43309}"/>
              </a:ext>
            </a:extLst>
          </p:cNvPr>
          <p:cNvSpPr txBox="1"/>
          <p:nvPr/>
        </p:nvSpPr>
        <p:spPr>
          <a:xfrm>
            <a:off x="923633" y="6293899"/>
            <a:ext cx="7296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Fonte: autor próprio</a:t>
            </a:r>
          </a:p>
        </p:txBody>
      </p:sp>
    </p:spTree>
    <p:extLst>
      <p:ext uri="{BB962C8B-B14F-4D97-AF65-F5344CB8AC3E}">
        <p14:creationId xmlns:p14="http://schemas.microsoft.com/office/powerpoint/2010/main" val="2566922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468181" y="392351"/>
            <a:ext cx="220765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Conclusão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2BEB2E0-59AE-DB13-F6DE-54FDB64E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5C8E8E66-4E35-A01D-16F5-6180C801C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5A5BDB4-49E4-DE29-0B82-0B625EE2B5DB}"/>
              </a:ext>
            </a:extLst>
          </p:cNvPr>
          <p:cNvSpPr txBox="1"/>
          <p:nvPr/>
        </p:nvSpPr>
        <p:spPr>
          <a:xfrm>
            <a:off x="1034473" y="1422399"/>
            <a:ext cx="73521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Resumo do Trabalho: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completo e de acordo com as normas técnicas;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e confiabilidade;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Dimensionamento verificando temperatura, agrupamento e proteção;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Ramal dimensionado conforme Elektro;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sólida para execução real.</a:t>
            </a:r>
          </a:p>
        </p:txBody>
      </p:sp>
    </p:spTree>
    <p:extLst>
      <p:ext uri="{BB962C8B-B14F-4D97-AF65-F5344CB8AC3E}">
        <p14:creationId xmlns:p14="http://schemas.microsoft.com/office/powerpoint/2010/main" val="17739836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0BCB15A-8E80-4E40-AEBA-3BCD9D3A6108}"/>
              </a:ext>
            </a:extLst>
          </p:cNvPr>
          <p:cNvSpPr/>
          <p:nvPr/>
        </p:nvSpPr>
        <p:spPr>
          <a:xfrm>
            <a:off x="3102697" y="392351"/>
            <a:ext cx="2938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REFERÊNCIAS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0B704C-72BA-4006-9667-882B0C257AC6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FE5A1A-4E6D-4BB9-9233-9080965F1756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AEE667-4D75-4C3A-AE47-B386E21A980F}"/>
              </a:ext>
            </a:extLst>
          </p:cNvPr>
          <p:cNvSpPr/>
          <p:nvPr/>
        </p:nvSpPr>
        <p:spPr>
          <a:xfrm>
            <a:off x="443464" y="1514409"/>
            <a:ext cx="8257071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ABNT – ASSOCIAÇÃO BRASILEIRA DE NORMAS TÉCNICAS. NBR 5444: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Símbolos gráficos para instalações prediais.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Rio de Janeiro: ABNT, 1989.</a:t>
            </a:r>
          </a:p>
          <a:p>
            <a:pPr algn="just">
              <a:spcAft>
                <a:spcPts val="600"/>
              </a:spcAft>
            </a:pPr>
            <a:r>
              <a:rPr lang="pt-BR" sz="16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ABNT – ASSOCIAÇÃO BRASILEIRA DE NORMAS TÉCNICAS. NBR 5410: </a:t>
            </a:r>
            <a:r>
              <a:rPr lang="pt-BR" sz="16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Instalações elétricas de baixa tensão.</a:t>
            </a:r>
            <a:r>
              <a:rPr lang="pt-BR" sz="16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Rio de Janeiro: ABNT, 2008.</a:t>
            </a:r>
            <a:endParaRPr lang="pt-BR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ABNT – ASSOCIAÇÃO BRASILEIRA DE NORMAS TÉCNICAS. NBR ISO/CIE 8995-1: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Iluminação de ambientes de trabalho.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Rio de Janeiro: ABNT, 2013.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COTRIM, Gilberto.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Instalações elétricas.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6. ed. São Paulo: Pearson, 2015.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CREDER, Hélio.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Instalações elétricas.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16. ed. Rio de Janeiro: LTC, 2016.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ELEKTRO. DIS-NOR-030: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Fornecimento de energia elétrica em tensão secundária de distribuição – edificações individuais.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Revisão 3, 03 maio 2023. Disponível em: </a:t>
            </a:r>
            <a:r>
              <a:rPr lang="pt-BR" sz="16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https://www.elektro.com.br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ELEKTRO. DIS-NOR-036: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Fornecimento de energia elétrica em baixa tensão – padrões de entrada e ramais.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Disponível em: </a:t>
            </a:r>
            <a:r>
              <a:rPr lang="pt-BR" sz="16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https://www.elektro.com.br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FILIPE, F. G. S.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Estudo de sustentabilidade energética e ambiental de um edifício residencial de arquitetura não convencional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pt-BR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Earthship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2016. Dissertação (Mestrado) – Universidade de Coimbra, Coimbra, 2016.</a:t>
            </a:r>
            <a:endParaRPr lang="pt-BR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BCFC00D-94B1-FE7A-C986-E627E8E38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1C2E3722-FC5E-B4C8-1DE1-01D613FFC1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98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4E61-2852-FFE0-C7DF-F5254133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8985657-B43D-BC34-7DF1-15753DD92FC9}"/>
              </a:ext>
            </a:extLst>
          </p:cNvPr>
          <p:cNvSpPr/>
          <p:nvPr/>
        </p:nvSpPr>
        <p:spPr>
          <a:xfrm>
            <a:off x="3102697" y="392351"/>
            <a:ext cx="2938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3000" b="1" cap="sm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REFERÊNCIAS</a:t>
            </a:r>
            <a:endParaRPr lang="en-US" sz="3000" b="1" cap="sm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B1D724-5375-42D6-F4A2-08C05A2E7E91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9DB319-C018-6B32-21CA-5B946BA8632C}"/>
              </a:ext>
            </a:extLst>
          </p:cNvPr>
          <p:cNvSpPr/>
          <p:nvPr/>
        </p:nvSpPr>
        <p:spPr>
          <a:xfrm>
            <a:off x="1249737" y="942175"/>
            <a:ext cx="7894263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CF0679-AB17-2230-69D3-8723CA17D4F8}"/>
              </a:ext>
            </a:extLst>
          </p:cNvPr>
          <p:cNvSpPr/>
          <p:nvPr/>
        </p:nvSpPr>
        <p:spPr>
          <a:xfrm>
            <a:off x="443464" y="1451183"/>
            <a:ext cx="8257071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MARSICO, M. L. et al. 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Aplicação de BIM na compatibilização de projetos de edificações.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Iberoamerican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Industrial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Engineering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Florianópolis, v. 7, n. 17, p. 19–41, 2017.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PROGRAMA NACIONAL DE CONSERVAÇÃO DE ENERGIA ELÉTRICA – PROCEL. Relatório anual de atividades. Rio de Janeiro: Eletrobras, 2016.</a:t>
            </a:r>
          </a:p>
          <a:p>
            <a:pPr algn="just">
              <a:spcAft>
                <a:spcPts val="600"/>
              </a:spcAft>
              <a:buNone/>
            </a:pP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REZENDE, P. L. C</a:t>
            </a:r>
            <a:r>
              <a:rPr lang="pt-BR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Desenvolvimento de projetos elétricos prediais de baixa tensão.</a:t>
            </a:r>
            <a:r>
              <a:rPr lang="pt-BR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2023. Trabalho de Conclusão de Curso (Graduação) – Universidade Estadual Paulista, Ilha Solteira, 2023.</a:t>
            </a:r>
          </a:p>
          <a:p>
            <a:pPr algn="just"/>
            <a:endParaRPr lang="pt-BR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C201661-9FD2-9EFE-7CC6-4508E9FF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75" y="351404"/>
            <a:ext cx="1895856" cy="404733"/>
          </a:xfrm>
          <a:prstGeom prst="rect">
            <a:avLst/>
          </a:prstGeom>
        </p:spPr>
      </p:pic>
      <p:pic>
        <p:nvPicPr>
          <p:cNvPr id="4" name="Imagem 3" descr="Texto&#10;&#10;O conteúdo gerado por IA pode estar incorreto.">
            <a:extLst>
              <a:ext uri="{FF2B5EF4-FFF2-40B4-BE49-F238E27FC236}">
                <a16:creationId xmlns:a16="http://schemas.microsoft.com/office/drawing/2014/main" id="{D367FE4E-BB8A-3FAF-E399-E97B1AFA8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9" y="88067"/>
            <a:ext cx="1184368" cy="11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32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46376" y="4206156"/>
            <a:ext cx="7849943" cy="1045029"/>
          </a:xfrm>
        </p:spPr>
        <p:txBody>
          <a:bodyPr>
            <a:normAutofit fontScale="90000"/>
          </a:bodyPr>
          <a:lstStyle/>
          <a:p>
            <a:pPr algn="ctr"/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Obrigado(a)</a:t>
            </a:r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376803A-F48C-4636-9402-239C47DAE05F}"/>
              </a:ext>
            </a:extLst>
          </p:cNvPr>
          <p:cNvSpPr txBox="1">
            <a:spLocks/>
          </p:cNvSpPr>
          <p:nvPr/>
        </p:nvSpPr>
        <p:spPr>
          <a:xfrm>
            <a:off x="129058" y="5708248"/>
            <a:ext cx="4351501" cy="1838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Bruno Henrique de Oliveira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D8E51D9-BA9F-4216-AD0B-317722DA9863}"/>
              </a:ext>
            </a:extLst>
          </p:cNvPr>
          <p:cNvSpPr txBox="1">
            <a:spLocks/>
          </p:cNvSpPr>
          <p:nvPr/>
        </p:nvSpPr>
        <p:spPr>
          <a:xfrm>
            <a:off x="847723" y="5918497"/>
            <a:ext cx="2625150" cy="3924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Bruno.henriq@alunos.fho.edu.br</a:t>
            </a:r>
          </a:p>
        </p:txBody>
      </p:sp>
      <p:pic>
        <p:nvPicPr>
          <p:cNvPr id="14" name="Picture 6" descr="Resultado de imagem para email">
            <a:extLst>
              <a:ext uri="{FF2B5EF4-FFF2-40B4-BE49-F238E27FC236}">
                <a16:creationId xmlns:a16="http://schemas.microsoft.com/office/drawing/2014/main" id="{6A2EAE6B-F0F0-4847-B4F3-A8C339AE6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40" y="6024615"/>
            <a:ext cx="188072" cy="2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FEBEC0-AEF5-4548-8402-831CE50F1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58" y="538697"/>
            <a:ext cx="4351502" cy="928973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504B489-A55B-4459-B738-F243050DA080}"/>
              </a:ext>
            </a:extLst>
          </p:cNvPr>
          <p:cNvSpPr/>
          <p:nvPr/>
        </p:nvSpPr>
        <p:spPr>
          <a:xfrm>
            <a:off x="0" y="6812281"/>
            <a:ext cx="9144000" cy="45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6D30BB-40A7-48BA-AE48-DDD9BF0F8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738" y="0"/>
            <a:ext cx="2431262" cy="2321205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75C27FE0-4A4F-11B8-5376-3EE1E1F3FA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092" y="1420677"/>
            <a:ext cx="2549815" cy="253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850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1787</Words>
  <Application>Microsoft Office PowerPoint</Application>
  <PresentationFormat>Apresentação na tela (4:3)</PresentationFormat>
  <Paragraphs>651</Paragraphs>
  <Slides>35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Obrigado(a)!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2017-09-26T22:31:49Z</dcterms:created>
  <dcterms:modified xsi:type="dcterms:W3CDTF">2025-12-06T18:02:26Z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